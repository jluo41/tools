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insight Job changes one thing at a time, so when an answer changes we can say why; and a claim leaves the Board only once it has earned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Speed is no longer scarce. Also: over 60% of insights reported in visual exploration of data with a known truth were false (Zgraggen 2018); the best agents solve a quarter to a third of data-analysis benchmark tasks (Majumder 2024; Chen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pain before the fix: not a wrong answer, an unexplainable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move. Everything after it follows from pinning the two clocks.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 row as one release meeting new data; a column as one data version meeting new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Block beside the Board has the same four levels: a release is its Job, a question its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discipline: each level must cite the one below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first works: once outcomes had to be registered, trials showing a benefit fell from 17 of 30 to 2 of 25 (Kaplan &amp; Irvin 2015).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order: Add a Job (Board) → run-launch → run-power → rNN_&lt;partition&gt; → rNN_cross → run-write → run-check → run-compare-&lt;prev&gt; → run-propose-&lt;job&gt; → run-close.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T4 to T6 ask whether it was done right; only T7 (robustness) and T8 (replication) ask whether it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Written by the Job's soft Run run-compare-&lt;prev&gt; into reports/vs-&lt;prev&gt;.md; the Audience Report's vs previous reads only that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does not make answers right; it makes changes attributable and claims proportionate.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release is also opened when a level is answered (D raises I questions), a check fails, an answer is weak, a new data field arrives, someone asks, or a paper suggests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Board's reports/qNN_&lt;topic&gt;/ are these second-order questions: about the answers, not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crossing b12's deck draws from the design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Partition × Period filters every Audience Report: Full · &lt;A&gt; · &lt;B&gt; · Cross, and Current · vs previous. Every cell opens the Run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Mitigations proposed: reuse unchanged Runs by hash; batch proposals into one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Insight Guide: the workbench is itself a 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as of 2026-10-07; rebuild the deck before each showing so this slide stays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491" y="2072259"/>
            <a:ext cx="11961019" cy="8562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1C1C1C"/>
                </a:solidFill>
                <a:latin typeface="Times New Roman"/>
              </a:rPr>
              <a:t>The insight theme on the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59581" y="3134106"/>
            <a:ext cx="13111162" cy="386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3F3F46"/>
                </a:solidFill>
                <a:latin typeface="Times New Roman"/>
              </a:rPr>
              <a:t>Questions that evolve, on data that grows: how we ask, answer, check and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7669" y="3480816"/>
            <a:ext cx="3776662" cy="386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3F3F46"/>
                </a:solidFill>
                <a:latin typeface="Times New Roman"/>
              </a:rPr>
              <a:t>on what the data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4166235"/>
            <a:ext cx="1524000" cy="9525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57638" y="6062091"/>
            <a:ext cx="4276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8A8A8A"/>
                </a:solidFill>
                <a:latin typeface="Times New Roman"/>
              </a:rPr>
              <a:t>b11_theme_insight · s61-insight-slides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2877800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Analysis is cheap now; a reason to trust it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9140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An agent runs a hundred analyses in the time a person checks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982503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Each way an analysis fools itself has been measured, and none is rare.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097405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173605"/>
            <a:ext cx="105251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4650" y="2173605"/>
            <a:ext cx="224313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what was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623376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Forking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4650" y="2623376"/>
            <a:ext cx="960000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29 teams, one dataset and question: odds ratios from 0.89 to 2.93 (Silberzahn 2018)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01847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" y="3106293"/>
            <a:ext cx="190857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Subgroup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4650" y="3106293"/>
            <a:ext cx="982622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46 of 117 tested the difference; none of 5 attempts to confirm one did (Wallach 2017)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50139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3589210"/>
            <a:ext cx="179546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No replication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4650" y="3589210"/>
            <a:ext cx="8921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97% of 100 studies significant; 36% of their replications (Open Science 2015)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398430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" y="4072128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Self-checking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4650" y="4072128"/>
            <a:ext cx="812958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 language model rates its own output above others' (Panickssery 2024)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46722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81300" y="2097405"/>
            <a:ext cx="9525" cy="236982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" y="2097405"/>
            <a:ext cx="11049000" cy="2369820"/>
          </a:xfrm>
          <a:prstGeom prst="roundRect">
            <a:avLst>
              <a:gd name="adj" fmla="val 1205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4674680"/>
            <a:ext cx="1172765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Each failure has a known remedy; the design puts every remedy on the path of every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62751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Today we cannot say why an answer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201578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register board holds one extract, its partitions and the questions, edited in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105733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new extract, a fixed script and a new question tend to land in the same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736044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When an answer moves, nobody can name the one cause.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477452"/>
            <a:ext cx="5191125" cy="2328862"/>
          </a:xfrm>
          <a:prstGeom prst="roundRect">
            <a:avLst>
              <a:gd name="adj" fmla="val 1226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639378"/>
            <a:ext cx="998934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08495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084957"/>
            <a:ext cx="585192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insights/&lt;Dataset&gt;-InsightBoard/: one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2119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421190"/>
            <a:ext cx="522684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questions and their code edited in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75742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757422"/>
            <a:ext cx="560189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new extract: a new board, or an overwrite</a:t>
            </a:r>
          </a:p>
        </p:txBody>
      </p:sp>
      <p:sp>
        <p:nvSpPr>
          <p:cNvPr id="17" name="Freeform 16"/>
          <p:cNvSpPr/>
          <p:nvPr/>
        </p:nvSpPr>
        <p:spPr>
          <a:xfrm>
            <a:off x="5857875" y="364236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238875" y="358521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9375" y="2477452"/>
            <a:ext cx="5191125" cy="2328862"/>
          </a:xfrm>
          <a:prstGeom prst="roundRect">
            <a:avLst>
              <a:gd name="adj" fmla="val 122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2639378"/>
            <a:ext cx="2189559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On the ladder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9875" y="308495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3084957"/>
            <a:ext cx="622696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Prototype Block: the questions and their code,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900" y="3344990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released p1, 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368122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3681222"/>
            <a:ext cx="597693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an insight Board: the data versions, a Job 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9900" y="3941254"/>
            <a:ext cx="72628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pair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9875" y="427748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9900" y="4277487"/>
            <a:ext cx="560189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Job pins one release and one data 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12795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Two things change, on two clocks: the questions and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18769"/>
            <a:ext cx="1376362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2628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1526286"/>
            <a:ext cx="9688116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The questions change when we learn; the data changes when it arrives.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633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1906333"/>
            <a:ext cx="996195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Job pins one of each, by path and hash, and is frozen when it closes.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577465"/>
            <a:ext cx="3505200" cy="2588895"/>
          </a:xfrm>
          <a:prstGeom prst="roundRect">
            <a:avLst>
              <a:gd name="adj" fmla="val 1103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739390"/>
            <a:ext cx="1594247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8497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184970"/>
            <a:ext cx="385167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questions, their scripts,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445002"/>
            <a:ext cx="385167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cuts and the compare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781234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781234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released p1 → p2 → p3; a 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041267"/>
            <a:ext cx="1476375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signs 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37750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377500"/>
            <a:ext cx="122634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lives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637532"/>
            <a:ext cx="360164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work/bNN_&lt;topic&gt;_prototype/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577465"/>
            <a:ext cx="3505200" cy="2588895"/>
          </a:xfrm>
          <a:prstGeom prst="roundRect">
            <a:avLst>
              <a:gd name="adj" fmla="val 1103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3900" y="2739390"/>
            <a:ext cx="1296591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318497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3925" y="3184970"/>
            <a:ext cx="385167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extracts by date, outside 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3925" y="3445002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3900" y="3781234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3925" y="3781234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versions &lt;d&gt;v1 → &lt;d&gt;v2 build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3900" y="411746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3925" y="4117467"/>
            <a:ext cx="3476625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new one needs no release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5300" y="2577465"/>
            <a:ext cx="3505200" cy="2588895"/>
          </a:xfrm>
          <a:prstGeom prst="roundRect">
            <a:avLst>
              <a:gd name="adj" fmla="val 1103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5800" y="2739390"/>
            <a:ext cx="701278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5800" y="318497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5825" y="3184970"/>
            <a:ext cx="397668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one release × one data 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800" y="352120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5825" y="3521202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j03_p2_&lt;d&gt;v2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825" y="3781234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insights/bNN_&lt;topic&gt;/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411746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5825" y="4117467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frozen when closed; a change 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5825" y="4377500"/>
            <a:ext cx="135135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new Job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62801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One change per Job, so every changed answer has one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9140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Each step to the next Job moves the data or the code, never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9688116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Backfill (new code on old data) is one more cell, not a special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097405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4650" y="2173605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&lt;d&gt;v1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0732" y="2173605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&lt;d&gt;v2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7768" y="2173605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&lt;d&gt;v3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623376"/>
            <a:ext cx="43815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623376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j01 ·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0732" y="2623376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j02 · data 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7768" y="2623376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01847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3106293"/>
            <a:ext cx="43815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4650" y="3106293"/>
            <a:ext cx="258722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+ backfill p2 × &lt;d&gt;v1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0732" y="3106293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j03 · code 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7768" y="3106293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j04 · data 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50139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3589210"/>
            <a:ext cx="43815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4650" y="3589210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0732" y="3589210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7768" y="3589210"/>
            <a:ext cx="224790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+ the next release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398430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1300" y="2097405"/>
            <a:ext cx="9525" cy="1886903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27382" y="2097405"/>
            <a:ext cx="9525" cy="1886903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74418" y="2097405"/>
            <a:ext cx="9525" cy="1886903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1500" y="2097405"/>
            <a:ext cx="11049000" cy="1886902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191762"/>
            <a:ext cx="1297781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The Board's Map: data versions as columns, releases as rows. Jobs two clocks apart are never compared.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8877300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Four levels: Board, Job, Task,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955119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Every theme has these four levels; what each holds is insight's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783" y="1793558"/>
            <a:ext cx="998934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1686687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insights/bNN_&lt;topic&gt;/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1967103"/>
            <a:ext cx="688538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dataset, its versions, the Map, and reports across Jobs</a:t>
            </a:r>
          </a:p>
        </p:txBody>
      </p:sp>
      <p:sp>
        <p:nvSpPr>
          <p:cNvPr id="9" name="Freeform 8"/>
          <p:cNvSpPr/>
          <p:nvPr/>
        </p:nvSpPr>
        <p:spPr>
          <a:xfrm>
            <a:off x="819150" y="2250758"/>
            <a:ext cx="400050" cy="847724"/>
          </a:xfrm>
          <a:custGeom>
            <a:avLst/>
            <a:gdLst/>
            <a:ahLst/>
            <a:cxnLst/>
            <a:rect l="l" t="t" r="r" b="b"/>
            <a:pathLst>
              <a:path w="400050" h="847724">
                <a:moveTo>
                  <a:pt x="0" y="0"/>
                </a:moveTo>
                <a:lnTo>
                  <a:pt x="0" y="847724"/>
                </a:lnTo>
                <a:lnTo>
                  <a:pt x="400050" y="847724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23950" y="304133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7300" y="2841308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3411" y="2917508"/>
            <a:ext cx="701278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9400" y="2810637"/>
            <a:ext cx="185142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j03_p2_&lt;d&gt;v2/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9400" y="3091053"/>
            <a:ext cx="812958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release × one data version; its questions grouped by D · I · K · W</a:t>
            </a:r>
          </a:p>
        </p:txBody>
      </p:sp>
      <p:sp>
        <p:nvSpPr>
          <p:cNvPr id="15" name="Freeform 14"/>
          <p:cNvSpPr/>
          <p:nvPr/>
        </p:nvSpPr>
        <p:spPr>
          <a:xfrm>
            <a:off x="1504950" y="3374708"/>
            <a:ext cx="400050" cy="847724"/>
          </a:xfrm>
          <a:custGeom>
            <a:avLst/>
            <a:gdLst/>
            <a:ahLst/>
            <a:cxnLst/>
            <a:rect l="l" t="t" r="r" b="b"/>
            <a:pathLst>
              <a:path w="400050" h="847724">
                <a:moveTo>
                  <a:pt x="0" y="0"/>
                </a:moveTo>
                <a:lnTo>
                  <a:pt x="0" y="847724"/>
                </a:lnTo>
                <a:lnTo>
                  <a:pt x="400050" y="847724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809750" y="416528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43100" y="3965258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4797" y="4041458"/>
            <a:ext cx="85010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200" y="3934587"/>
            <a:ext cx="172640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t04_K01_&lt;q&gt;/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200" y="4215003"/>
            <a:ext cx="688538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question on this pair, at its DIKW level, with its page</a:t>
            </a:r>
          </a:p>
        </p:txBody>
      </p:sp>
      <p:sp>
        <p:nvSpPr>
          <p:cNvPr id="21" name="Freeform 20"/>
          <p:cNvSpPr/>
          <p:nvPr/>
        </p:nvSpPr>
        <p:spPr>
          <a:xfrm>
            <a:off x="2190750" y="4498658"/>
            <a:ext cx="400050" cy="847724"/>
          </a:xfrm>
          <a:custGeom>
            <a:avLst/>
            <a:gdLst/>
            <a:ahLst/>
            <a:cxnLst/>
            <a:rect l="l" t="t" r="r" b="b"/>
            <a:pathLst>
              <a:path w="400050" h="847724">
                <a:moveTo>
                  <a:pt x="0" y="0"/>
                </a:moveTo>
                <a:lnTo>
                  <a:pt x="0" y="847724"/>
                </a:lnTo>
                <a:lnTo>
                  <a:pt x="400050" y="847724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495550" y="528923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28900" y="5089208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5011" y="5165408"/>
            <a:ext cx="701278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1000" y="5058537"/>
            <a:ext cx="472678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runs/r02_&lt;A&gt;/ · run-&lt;type&gt;-&lt;target&gt;/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0" y="5338953"/>
            <a:ext cx="7903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hard: one partition's result/ · soft: write, check, compare, propose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878050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Each DIKW level may say more, and has one thing it may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18769"/>
            <a:ext cx="1126331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2628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1526286"/>
            <a:ext cx="135219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question's level is set when it is asked, before the data, so a weak result cannot be promoted.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197418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2273618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4650" y="2273618"/>
            <a:ext cx="105251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may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0732" y="2273618"/>
            <a:ext cx="152876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may not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7768" y="2273618"/>
            <a:ext cx="129063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must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723388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D ·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723388"/>
            <a:ext cx="258722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counts, what was seen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0732" y="2723388"/>
            <a:ext cx="179546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any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7768" y="2723388"/>
            <a:ext cx="292655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n, coverage, missingness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11848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3206306"/>
            <a:ext cx="190857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I ·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4650" y="3206306"/>
            <a:ext cx="315277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rates, contrasts,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0732" y="3206306"/>
            <a:ext cx="122991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"because"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7768" y="3206306"/>
            <a:ext cx="315277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test for each contrast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60140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3689223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K ·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4650" y="3689223"/>
            <a:ext cx="371832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claim, how sure, its rivals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0732" y="3689223"/>
            <a:ext cx="89058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advice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7768" y="3689223"/>
            <a:ext cx="337899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rivals ruled out; replicates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7768" y="3924490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(T8)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31958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850" y="4407408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W · Wisdom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4650" y="4407408"/>
            <a:ext cx="213479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advice for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0732" y="440740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new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7768" y="4407408"/>
            <a:ext cx="326588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K claims it rests on;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7768" y="4642676"/>
            <a:ext cx="122991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signature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503777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81300" y="2197418"/>
            <a:ext cx="9525" cy="284035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27382" y="2197418"/>
            <a:ext cx="9525" cy="284035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74418" y="2197418"/>
            <a:ext cx="9525" cy="284035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1500" y="2197418"/>
            <a:ext cx="11049000" cy="2840355"/>
          </a:xfrm>
          <a:prstGeom prst="roundRect">
            <a:avLst>
              <a:gd name="adj" fmla="val 1006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377988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A question is planned, agreed and signed before any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18769"/>
            <a:ext cx="212645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is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2628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1526286"/>
            <a:ext cx="12563475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The ask, the plan, the cuts, the power floors and the compare rule are fixed in a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633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1906333"/>
            <a:ext cx="1064656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different agent agrees the plan (T0 – T3), and a person signs the release.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901440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178" y="4068699"/>
            <a:ext cx="626269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091" y="4463796"/>
            <a:ext cx="202644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 person signs it</a:t>
            </a:r>
          </a:p>
        </p:txBody>
      </p:sp>
      <p:sp>
        <p:nvSpPr>
          <p:cNvPr id="11" name="Freeform 10"/>
          <p:cNvSpPr/>
          <p:nvPr/>
        </p:nvSpPr>
        <p:spPr>
          <a:xfrm>
            <a:off x="2181225" y="452723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333625" y="447008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6975" y="3901440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4169" y="4068699"/>
            <a:ext cx="757238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722" y="4463796"/>
            <a:ext cx="181213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T0 covered · 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191" y="4686681"/>
            <a:ext cx="116919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specified</a:t>
            </a:r>
          </a:p>
        </p:txBody>
      </p:sp>
      <p:sp>
        <p:nvSpPr>
          <p:cNvPr id="17" name="Freeform 16"/>
          <p:cNvSpPr/>
          <p:nvPr/>
        </p:nvSpPr>
        <p:spPr>
          <a:xfrm>
            <a:off x="4076700" y="452723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229100" y="447008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2450" y="3901440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4159" y="4068699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agree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197" y="4463796"/>
            <a:ext cx="181213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another agent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197" y="4686681"/>
            <a:ext cx="181213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T2 · T3 powered</a:t>
            </a:r>
          </a:p>
        </p:txBody>
      </p:sp>
      <p:sp>
        <p:nvSpPr>
          <p:cNvPr id="23" name="Freeform 22"/>
          <p:cNvSpPr/>
          <p:nvPr/>
        </p:nvSpPr>
        <p:spPr>
          <a:xfrm>
            <a:off x="5972175" y="452723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6124575" y="447008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7925" y="3901440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4150" y="4068699"/>
            <a:ext cx="1019175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4828" y="4463796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the code that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5562" y="4686681"/>
            <a:ext cx="127635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answers it</a:t>
            </a:r>
          </a:p>
        </p:txBody>
      </p:sp>
      <p:sp>
        <p:nvSpPr>
          <p:cNvPr id="29" name="Freeform 28"/>
          <p:cNvSpPr/>
          <p:nvPr/>
        </p:nvSpPr>
        <p:spPr>
          <a:xfrm>
            <a:off x="7867650" y="452723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020050" y="447008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3400" y="3901440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9625" y="4068699"/>
            <a:ext cx="1019175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0303" y="4463796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another agent</a:t>
            </a:r>
          </a:p>
        </p:txBody>
      </p:sp>
      <p:sp>
        <p:nvSpPr>
          <p:cNvPr id="34" name="Freeform 33"/>
          <p:cNvSpPr/>
          <p:nvPr/>
        </p:nvSpPr>
        <p:spPr>
          <a:xfrm>
            <a:off x="9763125" y="452723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9915525" y="447008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48875" y="3901440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63162" y="4068699"/>
            <a:ext cx="1543050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release p2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8622" y="4463796"/>
            <a:ext cx="181213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signed; used 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5778" y="4686681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path and hash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62801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Inside one Job: power first, then run, check, compare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18769"/>
            <a:ext cx="212645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propose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2628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1526286"/>
            <a:ext cx="12700397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Power is checked before any outcome is read, so a weak cut is refused and shown, never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633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1906333"/>
            <a:ext cx="10372725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Each partition is its own hard Run; Cross runs one test of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8638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2286381"/>
            <a:ext cx="11468100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Compare and propose come after the checks, so a proposal rests on checked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470" y="4122992"/>
            <a:ext cx="1019175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883" y="4517136"/>
            <a:ext cx="127635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pins ·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039" y="4740021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Task 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039" y="4962906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question</a:t>
            </a:r>
          </a:p>
        </p:txBody>
      </p:sp>
      <p:sp>
        <p:nvSpPr>
          <p:cNvPr id="15" name="Freeform 14"/>
          <p:cNvSpPr/>
          <p:nvPr/>
        </p:nvSpPr>
        <p:spPr>
          <a:xfrm>
            <a:off x="1910715" y="471678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063115" y="465963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6465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2919" y="4122992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8848" y="4517136"/>
            <a:ext cx="127635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n per cut;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740021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refuse</a:t>
            </a:r>
          </a:p>
        </p:txBody>
      </p:sp>
      <p:sp>
        <p:nvSpPr>
          <p:cNvPr id="21" name="Freeform 20"/>
          <p:cNvSpPr/>
          <p:nvPr/>
        </p:nvSpPr>
        <p:spPr>
          <a:xfrm>
            <a:off x="3534728" y="471678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87128" y="465963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20478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4994" y="4122992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rNN_&lt;cut&gt;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7172" y="4517136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hard 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3594" y="4740021"/>
            <a:ext cx="95488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result/</a:t>
            </a:r>
          </a:p>
        </p:txBody>
      </p:sp>
      <p:sp>
        <p:nvSpPr>
          <p:cNvPr id="27" name="Freeform 26"/>
          <p:cNvSpPr/>
          <p:nvPr/>
        </p:nvSpPr>
        <p:spPr>
          <a:xfrm>
            <a:off x="5159692" y="471678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312092" y="465963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45442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9959" y="4122992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rNN_cross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7091" y="4517136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POOL or SPLIT</a:t>
            </a:r>
          </a:p>
        </p:txBody>
      </p:sp>
      <p:sp>
        <p:nvSpPr>
          <p:cNvPr id="32" name="Freeform 31"/>
          <p:cNvSpPr/>
          <p:nvPr/>
        </p:nvSpPr>
        <p:spPr>
          <a:xfrm>
            <a:off x="6784658" y="471678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37058" y="465963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70408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45893" y="4122992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write 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6862" y="4395406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56" y="4789551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the page · T4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4259" y="5012436"/>
            <a:ext cx="6334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– T7</a:t>
            </a:r>
          </a:p>
        </p:txBody>
      </p:sp>
      <p:sp>
        <p:nvSpPr>
          <p:cNvPr id="39" name="Freeform 38"/>
          <p:cNvSpPr/>
          <p:nvPr/>
        </p:nvSpPr>
        <p:spPr>
          <a:xfrm>
            <a:off x="8409622" y="471678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562022" y="465963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95372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9906" y="4122992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compare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21115" y="4517136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vs 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9646" y="4740021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previous Job</a:t>
            </a:r>
          </a:p>
        </p:txBody>
      </p:sp>
      <p:sp>
        <p:nvSpPr>
          <p:cNvPr id="45" name="Freeform 44"/>
          <p:cNvSpPr/>
          <p:nvPr/>
        </p:nvSpPr>
        <p:spPr>
          <a:xfrm>
            <a:off x="10033635" y="471678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186035" y="465963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19385" y="3954780"/>
            <a:ext cx="1301115" cy="152400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25839" y="4122992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close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46080" y="4517136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frozen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12745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Four guardrails keep the answers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777120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None of them relies on the maker checking its own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879282"/>
            <a:ext cx="1743075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Plan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24862"/>
            <a:ext cx="272653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release is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84894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before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921127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T0 – T3 gate the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0425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0925" y="1879282"/>
            <a:ext cx="2040731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Planned cuts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0950" y="2324862"/>
            <a:ext cx="235148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filters and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0950" y="2584894"/>
            <a:ext cx="2476500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floors live in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0950" y="2844927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925" y="31811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0950" y="3181159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weak cut is refused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0950" y="3441192"/>
            <a:ext cx="135135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and shown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0925" y="3777424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0950" y="3777424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Cross tests 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0950" y="4037457"/>
            <a:ext cx="1476375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difference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9350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850" y="1879282"/>
            <a:ext cx="323135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Another agent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85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9875" y="2324862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T4 – T7 by an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9875" y="2584894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that did not write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875" y="2921127"/>
            <a:ext cx="235148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T5: each sentence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9875" y="3181159"/>
            <a:ext cx="272653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says what its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9875" y="3441192"/>
            <a:ext cx="72628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says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8275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8775" y="1879282"/>
            <a:ext cx="2338388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A person signs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8775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8800" y="2324862"/>
            <a:ext cx="2476500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release before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800" y="2584894"/>
            <a:ext cx="122634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8775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8800" y="2921127"/>
            <a:ext cx="272653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handoff after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8775" y="32573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800" y="3257359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nothing else leaves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800" y="3517392"/>
            <a:ext cx="135135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3127831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Every answer gets a status against the previous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3385006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The rule for "held" is fixed in the release before any outcome, not by whoever reads the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850" y="1793557"/>
            <a:ext cx="9334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650" y="1793557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224332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new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4650" y="2243328"/>
            <a:ext cx="541496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first asked in this release: not yet a finding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63842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726246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new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726246"/>
            <a:ext cx="484941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 question asked before now has an 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12134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50" y="3209163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held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4650" y="3209163"/>
            <a:ext cx="451008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release's rule says it is the same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60426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3692080"/>
            <a:ext cx="1003697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4650" y="3692080"/>
            <a:ext cx="677227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it moved beyond the rule, and the moved clock is its cause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08717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4174998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dropped · not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410266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comparable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4650" y="4174998"/>
            <a:ext cx="665916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answered before and not now · the question itself changed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480536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1300" y="1717358"/>
            <a:ext cx="9525" cy="308800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1500" y="1717358"/>
            <a:ext cx="11049000" cy="3088005"/>
          </a:xfrm>
          <a:prstGeom prst="roundRect">
            <a:avLst>
              <a:gd name="adj" fmla="val 925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5012817"/>
            <a:ext cx="1297781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Held: D counts within a tolerance; I the same direction; K the same sign and size; W its ground 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62801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One question, four Jobs: what a naive pipeline would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18769"/>
            <a:ext cx="212645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2628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1526286"/>
            <a:ext cx="10372725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K01 asks whether &lt;arm X&gt; beats &lt;arm Y&gt; on &lt;outcome&gt;, split by &lt;A&gt; and &lt;B&gt;.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633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1906333"/>
            <a:ext cx="5854303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Illustrative only: placeholders, no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577465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2653665"/>
            <a:ext cx="57626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4650" y="2653665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4450" y="2653665"/>
            <a:ext cx="1409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&lt;A&gt; vs &lt;B&gt;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0" y="2653665"/>
            <a:ext cx="21240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a naive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4050" y="2653665"/>
            <a:ext cx="152876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this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3103436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j01 p1 ×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4650" y="3103436"/>
            <a:ext cx="77747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4450" y="3103436"/>
            <a:ext cx="247411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SPLIT: larger in &lt;A&gt;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0" y="3103436"/>
            <a:ext cx="270033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ships "works better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0" y="3338703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&lt;A&gt;"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4050" y="3103436"/>
            <a:ext cx="270033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 K claim: W waits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3338703"/>
            <a:ext cx="43815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373380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3821621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j02 p1 ×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4650" y="3821621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4450" y="3821621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0" y="3821621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0" y="405688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"disappears"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4050" y="3821621"/>
            <a:ext cx="247411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changed; cause: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45198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4539806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j03 p2 ×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4650" y="4539806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4450" y="4539806"/>
            <a:ext cx="190857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&lt;B&gt; below power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4250" y="4539806"/>
            <a:ext cx="213479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old and new mixed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4050" y="4539806"/>
            <a:ext cx="270033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&lt;B&gt; refused, and shown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493490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850" y="5022723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j04 p2 × 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14650" y="5022723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450" y="5022723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POOL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4250" y="5022723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4050" y="5022723"/>
            <a:ext cx="236100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held: the split was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4050" y="5257990"/>
            <a:ext cx="77747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noise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565308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81300" y="2577465"/>
            <a:ext cx="9525" cy="307562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91100" y="2577465"/>
            <a:ext cx="9525" cy="307562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00900" y="2577465"/>
            <a:ext cx="9525" cy="307562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0700" y="2577465"/>
            <a:ext cx="9525" cy="307562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71500" y="2577465"/>
            <a:ext cx="11049000" cy="3075622"/>
          </a:xfrm>
          <a:prstGeom prst="roundRect">
            <a:avLst>
              <a:gd name="adj" fmla="val 929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377488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Comparing Jobs is how the questions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0783491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Gaps and changed answers become proposals; proposals become the next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35219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question added after seeing the data stays exploratory until the next data version confirms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344228"/>
            <a:ext cx="1950720" cy="1028700"/>
          </a:xfrm>
          <a:prstGeom prst="roundRect">
            <a:avLst>
              <a:gd name="adj" fmla="val 277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335" y="3511487"/>
            <a:ext cx="1543050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Job closes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998" y="3906584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frozen</a:t>
            </a:r>
          </a:p>
        </p:txBody>
      </p:sp>
      <p:sp>
        <p:nvSpPr>
          <p:cNvPr id="10" name="Freeform 9"/>
          <p:cNvSpPr/>
          <p:nvPr/>
        </p:nvSpPr>
        <p:spPr>
          <a:xfrm>
            <a:off x="2560320" y="3858578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712720" y="3801428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46070" y="3344228"/>
            <a:ext cx="1950720" cy="1028700"/>
          </a:xfrm>
          <a:prstGeom prst="roundRect">
            <a:avLst>
              <a:gd name="adj" fmla="val 277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358" y="3511487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474" y="3906584"/>
            <a:ext cx="23479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new · held · changed</a:t>
            </a:r>
          </a:p>
        </p:txBody>
      </p:sp>
      <p:sp>
        <p:nvSpPr>
          <p:cNvPr id="15" name="Freeform 14"/>
          <p:cNvSpPr/>
          <p:nvPr/>
        </p:nvSpPr>
        <p:spPr>
          <a:xfrm>
            <a:off x="4834890" y="3858578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987290" y="3801428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3344228"/>
            <a:ext cx="1950720" cy="1028700"/>
          </a:xfrm>
          <a:prstGeom prst="roundRect">
            <a:avLst>
              <a:gd name="adj" fmla="val 277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0928" y="3511487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propose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0669" y="3906584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→ proposals/</a:t>
            </a:r>
          </a:p>
        </p:txBody>
      </p:sp>
      <p:sp>
        <p:nvSpPr>
          <p:cNvPr id="20" name="Freeform 19"/>
          <p:cNvSpPr/>
          <p:nvPr/>
        </p:nvSpPr>
        <p:spPr>
          <a:xfrm>
            <a:off x="7109460" y="3858578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261860" y="3801428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95210" y="3344228"/>
            <a:ext cx="1950720" cy="1028700"/>
          </a:xfrm>
          <a:prstGeom prst="roundRect">
            <a:avLst>
              <a:gd name="adj" fmla="val 277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8076" y="3511487"/>
            <a:ext cx="1804988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036" y="3906584"/>
            <a:ext cx="245506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asked, agreed, signed</a:t>
            </a:r>
          </a:p>
        </p:txBody>
      </p:sp>
      <p:sp>
        <p:nvSpPr>
          <p:cNvPr id="25" name="Freeform 24"/>
          <p:cNvSpPr/>
          <p:nvPr/>
        </p:nvSpPr>
        <p:spPr>
          <a:xfrm>
            <a:off x="9384030" y="3858578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536430" y="3801428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69780" y="3344228"/>
            <a:ext cx="1950720" cy="1028700"/>
          </a:xfrm>
          <a:prstGeom prst="roundRect">
            <a:avLst>
              <a:gd name="adj" fmla="val 277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0068" y="3511487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new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9809" y="3906584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pN+1 × &lt;d&gt;vM</a:t>
            </a:r>
          </a:p>
        </p:txBody>
      </p:sp>
      <p:sp>
        <p:nvSpPr>
          <p:cNvPr id="30" name="Freeform 29"/>
          <p:cNvSpPr/>
          <p:nvPr/>
        </p:nvSpPr>
        <p:spPr>
          <a:xfrm>
            <a:off x="1546860" y="4411028"/>
            <a:ext cx="9098280" cy="400050"/>
          </a:xfrm>
          <a:custGeom>
            <a:avLst/>
            <a:gdLst/>
            <a:ahLst/>
            <a:cxnLst/>
            <a:rect l="l" t="t" r="r" b="b"/>
            <a:pathLst>
              <a:path w="9098280" h="400050">
                <a:moveTo>
                  <a:pt x="9098280" y="0"/>
                </a:moveTo>
                <a:lnTo>
                  <a:pt x="9098280" y="400050"/>
                </a:lnTo>
                <a:lnTo>
                  <a:pt x="0" y="400050"/>
                </a:lnTo>
                <a:lnTo>
                  <a:pt x="0" y="19050"/>
                </a:lnTo>
              </a:path>
            </a:pathLst>
          </a:custGeom>
          <a:noFill/>
          <a:ln w="15240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489710" y="4430078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114300" y="95250"/>
                </a:moveTo>
                <a:lnTo>
                  <a:pt x="57150" y="0"/>
                </a:lnTo>
                <a:lnTo>
                  <a:pt x="0" y="95250"/>
                </a:lnTo>
              </a:path>
            </a:pathLst>
          </a:custGeom>
          <a:noFill/>
          <a:ln w="15240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5073" y="4889373"/>
            <a:ext cx="53018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25" b="0">
                <a:solidFill>
                  <a:srgbClr val="1F5AA8"/>
                </a:solidFill>
                <a:latin typeface="Times New Roman"/>
              </a:rPr>
              <a:t>the new Job is compared with this one in turn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3127831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The Board reads across Jobs: a second D · I · K · 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201578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Readings use the Jobs' results, never raw data, and compare only Jobs one clock apart.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850" y="1793557"/>
            <a:ext cx="105251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650" y="1793557"/>
            <a:ext cx="69532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0" y="1793557"/>
            <a:ext cx="11715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soft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243328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4650" y="2243328"/>
            <a:ext cx="484941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what was asked and answered, on which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224332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run-coverage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63842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" y="2726246"/>
            <a:ext cx="89058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Tracks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4650" y="2726246"/>
            <a:ext cx="49625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question Job by Job; a trend over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4650" y="2961513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2726246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run-track-&lt;q&gt;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35661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3444430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4650" y="3444430"/>
            <a:ext cx="51887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each step held or changed, and its one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0" y="3444430"/>
            <a:ext cx="303966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run-consistency-&lt;jA&gt;-&lt;jB&gt;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383952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3927348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4650" y="3927348"/>
            <a:ext cx="56411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Board's own questions, each citing a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0" y="3927348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run-report-&lt;qNN&gt;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32244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1300" y="1717358"/>
            <a:ext cx="9525" cy="2605088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00900" y="1717358"/>
            <a:ext cx="9525" cy="2605088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1500" y="1717358"/>
            <a:ext cx="11049000" cy="2605088"/>
          </a:xfrm>
          <a:prstGeom prst="roundRect">
            <a:avLst>
              <a:gd name="adj" fmla="val 1096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212770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Only signed Wisdom leaves, and it steers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5991225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D, I and K hand their answers up, not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2700397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signed Wisdom counsel names its Job, and enters the design Block as a new inputs 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661410"/>
            <a:ext cx="1950720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0819" y="3828669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D · I ·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72" y="4223766"/>
            <a:ext cx="170497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answers, cited</a:t>
            </a:r>
          </a:p>
        </p:txBody>
      </p:sp>
      <p:sp>
        <p:nvSpPr>
          <p:cNvPr id="10" name="Freeform 9"/>
          <p:cNvSpPr/>
          <p:nvPr/>
        </p:nvSpPr>
        <p:spPr>
          <a:xfrm>
            <a:off x="2560320" y="428720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712720" y="423005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46070" y="3661410"/>
            <a:ext cx="1950720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5389" y="3828669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W counsel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8942" y="4223766"/>
            <a:ext cx="170497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 person signs</a:t>
            </a:r>
          </a:p>
        </p:txBody>
      </p:sp>
      <p:sp>
        <p:nvSpPr>
          <p:cNvPr id="15" name="Freeform 14"/>
          <p:cNvSpPr/>
          <p:nvPr/>
        </p:nvSpPr>
        <p:spPr>
          <a:xfrm>
            <a:off x="4834890" y="428720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987290" y="423005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3661410"/>
            <a:ext cx="1950720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0928" y="3828669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Handoff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2044" y="4223766"/>
            <a:ext cx="23479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W-NN · names pN × vM</a:t>
            </a:r>
          </a:p>
        </p:txBody>
      </p:sp>
      <p:sp>
        <p:nvSpPr>
          <p:cNvPr id="20" name="Freeform 19"/>
          <p:cNvSpPr/>
          <p:nvPr/>
        </p:nvSpPr>
        <p:spPr>
          <a:xfrm>
            <a:off x="7109460" y="428720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261860" y="423005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95210" y="3661410"/>
            <a:ext cx="1950720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2592" y="3828669"/>
            <a:ext cx="193595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Design 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0926" y="4223766"/>
            <a:ext cx="191928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 new version iN</a:t>
            </a:r>
          </a:p>
        </p:txBody>
      </p:sp>
      <p:sp>
        <p:nvSpPr>
          <p:cNvPr id="25" name="Freeform 24"/>
          <p:cNvSpPr/>
          <p:nvPr/>
        </p:nvSpPr>
        <p:spPr>
          <a:xfrm>
            <a:off x="9384030" y="4287202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536430" y="423005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69780" y="3661410"/>
            <a:ext cx="1950720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2646" y="3828669"/>
            <a:ext cx="1804988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A design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1184" y="4223766"/>
            <a:ext cx="23479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each element: from 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28434" y="4446651"/>
            <a:ext cx="6334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W-NN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262776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One workbench: the same six Spaces at every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2289631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Board, Job and Task each show the same six Spaces; what a Space holds follows the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850" y="1793557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650" y="1793557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0732" y="1793557"/>
            <a:ext cx="57626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7768" y="1793557"/>
            <a:ext cx="69532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243328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4650" y="2243328"/>
            <a:ext cx="326588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Map · Prototype · Dataset 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478596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Partitions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0732" y="2243328"/>
            <a:ext cx="292655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release and the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0732" y="2478596"/>
            <a:ext cx="1003697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7768" y="2243328"/>
            <a:ext cx="270033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Question · Plan ·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287369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2961513"/>
            <a:ext cx="190857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Audience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4650" y="2961513"/>
            <a:ext cx="371832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Coverage · Tracks ·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4650" y="3196780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·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0732" y="2961513"/>
            <a:ext cx="292655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Question │ Work │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7768" y="2961513"/>
            <a:ext cx="258722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need → Run → sentence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359187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367969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Work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4650" y="3679698"/>
            <a:ext cx="349210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Jobs, their quick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0732" y="3679698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Job › Task ›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7768" y="3679698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Task ›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07479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4162616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4650" y="4162616"/>
            <a:ext cx="292655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add a version or a Job 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4650" y="4397883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readings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0732" y="4162616"/>
            <a:ext cx="315277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launch … compare · propose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7768" y="4162616"/>
            <a:ext cx="326588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rNN · cross · write ·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479298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488080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4650" y="4880800"/>
            <a:ext cx="224790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signed handoff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0732" y="4880800"/>
            <a:ext cx="303966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its counsel, to the 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7768" y="4880800"/>
            <a:ext cx="89058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W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" y="527589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81300" y="1717358"/>
            <a:ext cx="9525" cy="355854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27382" y="1717358"/>
            <a:ext cx="9525" cy="355854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74418" y="1717358"/>
            <a:ext cx="9525" cy="355854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1500" y="1717358"/>
            <a:ext cx="11049000" cy="3558540"/>
          </a:xfrm>
          <a:prstGeom prst="roundRect">
            <a:avLst>
              <a:gd name="adj" fmla="val 802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377488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What it guarantees, and what it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2289631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It narrows how an analysis can go wrong; it does not replace judgment about what to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3505200" cy="2925128"/>
          </a:xfrm>
          <a:prstGeom prst="roundRect">
            <a:avLst>
              <a:gd name="adj" fmla="val 976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879282"/>
            <a:ext cx="2189559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It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24862"/>
            <a:ext cx="397668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every sentence traces to a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84894"/>
            <a:ext cx="185142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and a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921127"/>
            <a:ext cx="372665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each change between Jobs has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81159"/>
            <a:ext cx="135135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one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1739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517392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tests and cuts were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777424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before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11365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113657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person signed what left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717358"/>
            <a:ext cx="3505200" cy="2925128"/>
          </a:xfrm>
          <a:prstGeom prst="roundRect">
            <a:avLst>
              <a:gd name="adj" fmla="val 976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3900" y="1879282"/>
            <a:ext cx="3380184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It does not guarantee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3925" y="2324862"/>
            <a:ext cx="360164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that the question was worth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3925" y="2584894"/>
            <a:ext cx="97631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asking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9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3925" y="2921127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causal validity beyond what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3925" y="3181159"/>
            <a:ext cx="185142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data supports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3900" y="351739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3925" y="3517392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power in small data (it refuses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3925" y="3777424"/>
            <a:ext cx="122634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instead)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3900" y="411365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3925" y="4113657"/>
            <a:ext cx="397668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that the signer read carefully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5300" y="1717358"/>
            <a:ext cx="3505200" cy="2925128"/>
          </a:xfrm>
          <a:prstGeom prst="roundRect">
            <a:avLst>
              <a:gd name="adj" fmla="val 976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1879282"/>
            <a:ext cx="1445419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It costs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825" y="2324862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Run per partition, plus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5825" y="2584894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cross, write,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8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5825" y="2921127"/>
            <a:ext cx="372665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review and a signature 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5825" y="3181159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5800" y="351739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5825" y="3517392"/>
            <a:ext cx="297656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coverage: refused cuts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262776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The design is itself a bet, and we can measure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393269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Planned, agreed, powered questions should replicate on the next extract more often than ad hoc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201578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No study compares these methods head to head on one question; this would be the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097405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173605"/>
            <a:ext cx="105251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4650" y="2173605"/>
            <a:ext cx="1409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0" y="2173605"/>
            <a:ext cx="164782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read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623376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Replication (T8)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623376"/>
            <a:ext cx="4623197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K answers held on the next data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0" y="2623376"/>
            <a:ext cx="315277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an agent's ad hoc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01847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3106293"/>
            <a:ext cx="224790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Attributed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4650" y="3106293"/>
            <a:ext cx="42838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changed answers with one moved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0" y="3106293"/>
            <a:ext cx="247411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100% by construction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350139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" y="358921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Refusals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4650" y="3589210"/>
            <a:ext cx="360521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planned cuts refused for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3589210"/>
            <a:ext cx="2813447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coverage we give 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398430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407212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Time per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4650" y="4072128"/>
            <a:ext cx="190857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launch to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0" y="4072128"/>
            <a:ext cx="224790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latency we pay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46722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81300" y="2097405"/>
            <a:ext cx="9525" cy="236982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0900" y="2097405"/>
            <a:ext cx="9525" cy="236982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1500" y="2097405"/>
            <a:ext cx="11049000" cy="2369820"/>
          </a:xfrm>
          <a:prstGeom prst="roundRect">
            <a:avLst>
              <a:gd name="adj" fmla="val 1205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412670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0509647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Next: real Boards on the ladder, then the older register boards carry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3505200" cy="2512695"/>
          </a:xfrm>
          <a:prstGeom prst="roundRect">
            <a:avLst>
              <a:gd name="adj" fmla="val 1137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879282"/>
            <a:ext cx="85010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24862"/>
            <a:ext cx="372665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design: structure (s00),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84894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Board · Job · Task screens (s11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844927"/>
            <a:ext cx="310157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– s13), the Guide (s31)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811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81159"/>
            <a:ext cx="385167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workbench draws all three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441192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levels from a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701224"/>
            <a:ext cx="272653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Board; 17 tests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17358"/>
            <a:ext cx="3505200" cy="2512695"/>
          </a:xfrm>
          <a:prstGeom prst="roundRect">
            <a:avLst>
              <a:gd name="adj" fmla="val 1137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1879282"/>
            <a:ext cx="1891903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39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3925" y="2324862"/>
            <a:ext cx="360164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run types and skills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925" y="2584894"/>
            <a:ext cx="160139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level (s21)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3925" y="2921127"/>
            <a:ext cx="297656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first Board with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3925" y="3181159"/>
            <a:ext cx="397668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Prototype and data versions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3925" y="3441192"/>
            <a:ext cx="72628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disk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5300" y="1717358"/>
            <a:ext cx="3505200" cy="2512695"/>
          </a:xfrm>
          <a:prstGeom prst="roundRect">
            <a:avLst>
              <a:gd name="adj" fmla="val 1137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5800" y="1879282"/>
            <a:ext cx="85010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5825" y="2324862"/>
            <a:ext cx="360164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one Prototype per Board, 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5825" y="2584894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shared?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5825" y="2921127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when a release is cut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800" y="32573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5825" y="3257359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does a signed handoff go stale?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