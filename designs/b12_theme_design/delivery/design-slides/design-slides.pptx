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idea runs through the deck: a design Job changes one thing at a time, so when the designs change we can say why, and the Exp can teach the method, not only the designs.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pain before the fix: several things move at once, so a better or worse design has no single cause, and nothing we learn sticks to a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method is the thing we want to improve, so it is versioned and frozen like code. The three families: Goal Only (no rule yet), External Insights (a rule from research), Internal Insights (a rule from our data).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design theme Board has the same four levels as every other theme; only what each level holds is the design theme's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 row as a goal's history: each arrow is one Job to the next, and it changed exactly one thing. Read a column as one method across goals. Two Jobs in a cell can be opened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method step is a Task: one for reasoning, one per design, one for the whole set. A revision is another Run in the same design Task, never a new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fence makes a design traceable; the second agent makes the check independent; the person owns the goal and the release; the frozen prediction makes the Exp a real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Learning loop. A method version is never edited after it closes: a better idea becomes the next version, benched against the last on the same goals and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newer handoff never makes a released design stale: it is a new inputs version, so it is a new Job. The insight side of this crossing is drawn in b11.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UI with different content: the tab, the six Spaces and the Runs panel are the same at every level, so a reader who knows one level can read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 as of 2026-10-07; rebuild the deck before each showing so this slide stays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0038" y="2072259"/>
            <a:ext cx="11591925" cy="8562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650" b="1">
                <a:solidFill>
                  <a:srgbClr val="1C1C1C"/>
                </a:solidFill>
                <a:latin typeface="Times New Roman"/>
              </a:rPr>
              <a:t>The design theme on the ladder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459581" y="3134106"/>
            <a:ext cx="13111162" cy="386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3F3F46"/>
                </a:solidFill>
                <a:latin typeface="Times New Roman"/>
              </a:rPr>
              <a:t>N designs for one goal, by one method: how we make them, check them and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7794" y="3480816"/>
            <a:ext cx="1776412" cy="3867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0">
                <a:solidFill>
                  <a:srgbClr val="3F3F46"/>
                </a:solidFill>
                <a:latin typeface="Times New Roman"/>
              </a:rPr>
              <a:t>from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4166235"/>
            <a:ext cx="1524000" cy="9525"/>
          </a:xfrm>
          <a:prstGeom prst="rect">
            <a:avLst/>
          </a:prstGeom>
          <a:solidFill>
            <a:srgbClr val="1F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064794" y="6062091"/>
            <a:ext cx="406241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8A8A8A"/>
                </a:solidFill>
                <a:latin typeface="Times New Roman"/>
              </a:rPr>
              <a:t>b12_theme_design · s61-design-slides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0377488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Today we cannot say why a design changed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3111162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Design work sits in stage folders: a brief, the principles, then one Design folder per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12426553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method folder holds every goal, so the goal, the method and the inputs change together.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0632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806321"/>
            <a:ext cx="10783491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When a new batch of designs reads differently, nobody can name the one cause.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477452"/>
            <a:ext cx="5191125" cy="2068830"/>
          </a:xfrm>
          <a:prstGeom prst="roundRect">
            <a:avLst>
              <a:gd name="adj" fmla="val 1381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639378"/>
            <a:ext cx="998934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08495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084957"/>
            <a:ext cx="597693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0-BR-brief/ · 1-P-principle/ · 2-Design-M&lt;NN&gt;/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421190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421190"/>
            <a:ext cx="422671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method folder holds every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375742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3757422"/>
            <a:ext cx="472678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Runs: commission · generate · verify</a:t>
            </a:r>
          </a:p>
        </p:txBody>
      </p:sp>
      <p:sp>
        <p:nvSpPr>
          <p:cNvPr id="17" name="Freeform 16"/>
          <p:cNvSpPr/>
          <p:nvPr/>
        </p:nvSpPr>
        <p:spPr>
          <a:xfrm>
            <a:off x="5857875" y="3511868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 h="0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6238875" y="3454718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9375" y="2477452"/>
            <a:ext cx="5191125" cy="2068830"/>
          </a:xfrm>
          <a:prstGeom prst="roundRect">
            <a:avLst>
              <a:gd name="adj" fmla="val 1381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2639378"/>
            <a:ext cx="2189559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On the ladder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9875" y="308495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900" y="3084957"/>
            <a:ext cx="322659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Block → Job → Task →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9875" y="3421190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3421190"/>
            <a:ext cx="572690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Job pins one goal, one method version,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3681222"/>
            <a:ext cx="197643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inputs 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9875" y="4017454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9900" y="4017454"/>
            <a:ext cx="497681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every Run is named run-&lt;type&gt;-&lt;target&gt;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462801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A design method is a frozen recipe: a goal and inputs in,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818769"/>
            <a:ext cx="3626644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N designs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52628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0575" y="1526286"/>
            <a:ext cx="10920412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Each method version is frozen, so two Jobs on the same version are comparable.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0633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575" y="1906333"/>
            <a:ext cx="10646569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It runs in five steps, and checking a design is always another agent's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28638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2286381"/>
            <a:ext cx="14343459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Thirteen method cards in three families say where the rule comes from: the goal alone, research, or 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2571178"/>
            <a:ext cx="1472803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own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3874770"/>
            <a:ext cx="1301115" cy="196977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470" y="4042029"/>
            <a:ext cx="1019175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goal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470" y="4314444"/>
            <a:ext cx="1019175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461" y="4709541"/>
            <a:ext cx="116919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the Job's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773" y="4932426"/>
            <a:ext cx="74056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fence</a:t>
            </a:r>
          </a:p>
        </p:txBody>
      </p:sp>
      <p:sp>
        <p:nvSpPr>
          <p:cNvPr id="16" name="Freeform 15"/>
          <p:cNvSpPr/>
          <p:nvPr/>
        </p:nvSpPr>
        <p:spPr>
          <a:xfrm>
            <a:off x="1910715" y="4859655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063115" y="480250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196465" y="3874770"/>
            <a:ext cx="1301115" cy="196977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10013" y="4042029"/>
            <a:ext cx="1674019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1 See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6004" y="4437126"/>
            <a:ext cx="106203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what the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1691" y="4660011"/>
            <a:ext cx="149066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method reads</a:t>
            </a:r>
          </a:p>
        </p:txBody>
      </p:sp>
      <p:sp>
        <p:nvSpPr>
          <p:cNvPr id="22" name="Freeform 21"/>
          <p:cNvSpPr/>
          <p:nvPr/>
        </p:nvSpPr>
        <p:spPr>
          <a:xfrm>
            <a:off x="3534728" y="4859655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687128" y="480250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820478" y="3874770"/>
            <a:ext cx="1301115" cy="196977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30479" y="4042029"/>
            <a:ext cx="1281112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2 Reason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6932" y="4314444"/>
            <a:ext cx="88820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ideas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438" y="4709541"/>
            <a:ext cx="116919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15 ideas,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32860" y="4932426"/>
            <a:ext cx="1276350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each named</a:t>
            </a:r>
          </a:p>
        </p:txBody>
      </p:sp>
      <p:sp>
        <p:nvSpPr>
          <p:cNvPr id="29" name="Freeform 28"/>
          <p:cNvSpPr/>
          <p:nvPr/>
        </p:nvSpPr>
        <p:spPr>
          <a:xfrm>
            <a:off x="5159692" y="4859655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5312092" y="480250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45442" y="3874770"/>
            <a:ext cx="1301115" cy="196977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89959" y="4042029"/>
            <a:ext cx="1412081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3 Conduct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57825" y="4437126"/>
            <a:ext cx="1276350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one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4981" y="4660011"/>
            <a:ext cx="106203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per idea</a:t>
            </a:r>
          </a:p>
        </p:txBody>
      </p:sp>
      <p:sp>
        <p:nvSpPr>
          <p:cNvPr id="35" name="Freeform 34"/>
          <p:cNvSpPr/>
          <p:nvPr/>
        </p:nvSpPr>
        <p:spPr>
          <a:xfrm>
            <a:off x="6784658" y="4859655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6937058" y="480250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070408" y="3874770"/>
            <a:ext cx="1301115" cy="196977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45893" y="4042029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4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42346" y="4314444"/>
            <a:ext cx="757238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each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56" y="4709541"/>
            <a:ext cx="159781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T0 rules · T1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5634" y="4932426"/>
            <a:ext cx="149066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sources · T2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22056" y="5155311"/>
            <a:ext cx="159781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critique · T3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3524" y="5378196"/>
            <a:ext cx="95488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pretest</a:t>
            </a:r>
          </a:p>
        </p:txBody>
      </p:sp>
      <p:sp>
        <p:nvSpPr>
          <p:cNvPr id="44" name="Freeform 43"/>
          <p:cNvSpPr/>
          <p:nvPr/>
        </p:nvSpPr>
        <p:spPr>
          <a:xfrm>
            <a:off x="8409622" y="4859655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562022" y="480250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95372" y="3874770"/>
            <a:ext cx="1301115" cy="196977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69906" y="4042029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5 Check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00874" y="4314444"/>
            <a:ext cx="88820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whole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9646" y="4709541"/>
            <a:ext cx="149066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rank, keep N</a:t>
            </a:r>
          </a:p>
        </p:txBody>
      </p:sp>
      <p:sp>
        <p:nvSpPr>
          <p:cNvPr id="50" name="Freeform 49"/>
          <p:cNvSpPr/>
          <p:nvPr/>
        </p:nvSpPr>
        <p:spPr>
          <a:xfrm>
            <a:off x="10033635" y="4859655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0186035" y="4802505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319385" y="3874770"/>
            <a:ext cx="1301115" cy="1969770"/>
          </a:xfrm>
          <a:prstGeom prst="roundRect">
            <a:avLst>
              <a:gd name="adj" fmla="val 2196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63902" y="4042029"/>
            <a:ext cx="1412081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N designs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78189" y="4437126"/>
            <a:ext cx="1383506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to a person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8877300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Four levels: Block, Job, Task,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420653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Block is one application and one channel: its goals, its inputs versions and what the Exps returned.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12289631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Job is one goal done by one method version on one inputs version, returning N designs.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0632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806321"/>
            <a:ext cx="10509647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Task is one step of the method, and a Run is one piece of work inside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477452"/>
            <a:ext cx="1333500" cy="514350"/>
          </a:xfrm>
          <a:prstGeom prst="roundRect">
            <a:avLst>
              <a:gd name="adj" fmla="val 5555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8783" y="2553652"/>
            <a:ext cx="998934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>
                <a:solidFill>
                  <a:srgbClr val="1C1C1C"/>
                </a:solidFill>
                <a:latin typeface="Times New Roman"/>
              </a:rPr>
              <a:t>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3600" y="2446782"/>
            <a:ext cx="1476375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bNN_&lt;app&gt;/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600" y="2727198"/>
            <a:ext cx="7677150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application, one channel: goals · inputs i1, i2 · observed e01</a:t>
            </a:r>
          </a:p>
        </p:txBody>
      </p:sp>
      <p:sp>
        <p:nvSpPr>
          <p:cNvPr id="13" name="Freeform 12"/>
          <p:cNvSpPr/>
          <p:nvPr/>
        </p:nvSpPr>
        <p:spPr>
          <a:xfrm>
            <a:off x="819150" y="3010852"/>
            <a:ext cx="400050" cy="723900"/>
          </a:xfrm>
          <a:custGeom>
            <a:avLst/>
            <a:gdLst/>
            <a:ahLst/>
            <a:cxnLst/>
            <a:rect l="l" t="t" r="r" b="b"/>
            <a:pathLst>
              <a:path w="400050" h="723900">
                <a:moveTo>
                  <a:pt x="0" y="0"/>
                </a:moveTo>
                <a:lnTo>
                  <a:pt x="0" y="723900"/>
                </a:lnTo>
                <a:lnTo>
                  <a:pt x="400050" y="72390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123950" y="3677602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57300" y="3477578"/>
            <a:ext cx="1333500" cy="514350"/>
          </a:xfrm>
          <a:prstGeom prst="roundRect">
            <a:avLst>
              <a:gd name="adj" fmla="val 5555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73411" y="3553778"/>
            <a:ext cx="701278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>
                <a:solidFill>
                  <a:srgbClr val="1C1C1C"/>
                </a:solidFill>
                <a:latin typeface="Times New Roman"/>
              </a:rPr>
              <a:t>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9400" y="3446907"/>
            <a:ext cx="360164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jNN_&lt;goal&gt;_&lt;design-method&gt;/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9400" y="3727323"/>
            <a:ext cx="722471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goal × one method version × one inputs version → N designs</a:t>
            </a:r>
          </a:p>
        </p:txBody>
      </p:sp>
      <p:sp>
        <p:nvSpPr>
          <p:cNvPr id="19" name="Freeform 18"/>
          <p:cNvSpPr/>
          <p:nvPr/>
        </p:nvSpPr>
        <p:spPr>
          <a:xfrm>
            <a:off x="1504950" y="4010978"/>
            <a:ext cx="400050" cy="723900"/>
          </a:xfrm>
          <a:custGeom>
            <a:avLst/>
            <a:gdLst/>
            <a:ahLst/>
            <a:cxnLst/>
            <a:rect l="l" t="t" r="r" b="b"/>
            <a:pathLst>
              <a:path w="400050" h="723900">
                <a:moveTo>
                  <a:pt x="0" y="0"/>
                </a:moveTo>
                <a:lnTo>
                  <a:pt x="0" y="723900"/>
                </a:lnTo>
                <a:lnTo>
                  <a:pt x="400050" y="72390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1809750" y="4677728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43100" y="4477702"/>
            <a:ext cx="1333500" cy="514350"/>
          </a:xfrm>
          <a:prstGeom prst="roundRect">
            <a:avLst>
              <a:gd name="adj" fmla="val 5555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84797" y="4553902"/>
            <a:ext cx="850106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>
                <a:solidFill>
                  <a:srgbClr val="1C1C1C"/>
                </a:solidFill>
                <a:latin typeface="Times New Roman"/>
              </a:rPr>
              <a:t>Task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05200" y="4447032"/>
            <a:ext cx="73521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t00_reason-ideas/ · tNN_d&lt;NN&gt;_&lt;slug&gt;/ · t99_review-whole/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05200" y="4726496"/>
            <a:ext cx="756404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method step: reason ideas · one design · review the whole set</a:t>
            </a:r>
          </a:p>
        </p:txBody>
      </p:sp>
      <p:sp>
        <p:nvSpPr>
          <p:cNvPr id="25" name="Freeform 24"/>
          <p:cNvSpPr/>
          <p:nvPr/>
        </p:nvSpPr>
        <p:spPr>
          <a:xfrm>
            <a:off x="2190750" y="5010150"/>
            <a:ext cx="400050" cy="723900"/>
          </a:xfrm>
          <a:custGeom>
            <a:avLst/>
            <a:gdLst/>
            <a:ahLst/>
            <a:cxnLst/>
            <a:rect l="l" t="t" r="r" b="b"/>
            <a:pathLst>
              <a:path w="400050" h="723900">
                <a:moveTo>
                  <a:pt x="0" y="0"/>
                </a:moveTo>
                <a:lnTo>
                  <a:pt x="0" y="723900"/>
                </a:lnTo>
                <a:lnTo>
                  <a:pt x="400050" y="72390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495550" y="56769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628900" y="5476875"/>
            <a:ext cx="1333500" cy="514350"/>
          </a:xfrm>
          <a:prstGeom prst="roundRect">
            <a:avLst>
              <a:gd name="adj" fmla="val 5555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45011" y="5553075"/>
            <a:ext cx="701278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75" b="1">
                <a:solidFill>
                  <a:srgbClr val="1C1C1C"/>
                </a:solidFill>
                <a:latin typeface="Times New Roman"/>
              </a:rP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91000" y="5446205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runs/run-&lt;type&gt;-&lt;target&gt;/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91000" y="5726620"/>
            <a:ext cx="711160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hard: an agent writes a result · soft: a set-up or a sign-off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3627894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One change per Job, so every difference has one cause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1057334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 new goal, a new method version or a new inputs version each starts a new Job.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10920412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To compare two methods, run sibling Jobs on the same goal and the same inputs.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0632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806321"/>
            <a:ext cx="11468100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The Block's Map lays goals against methods, and each cell holds its chain of Jobs.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2477452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4650" y="2553652"/>
            <a:ext cx="152876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M01 by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60732" y="2553652"/>
            <a:ext cx="18859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M03 by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7768" y="2553652"/>
            <a:ext cx="1885950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M04 by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3003423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G01 &lt;goal&gt;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14650" y="3003423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j01 · i1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60732" y="3003423"/>
            <a:ext cx="236100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j02 · i1 → j05 · i2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7768" y="3003423"/>
            <a:ext cx="16823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j03 · m2 · i2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339852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850" y="3486340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G02 &lt;goal&gt;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4650" y="3486340"/>
            <a:ext cx="32504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0732" y="3486340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j04 · i1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7768" y="3486340"/>
            <a:ext cx="168235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j06 · m2 · i1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388143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3969258"/>
            <a:ext cx="1343025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G03 &lt;goal&gt;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4650" y="3969258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j07 · i2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0732" y="3969258"/>
            <a:ext cx="32504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7768" y="3969258"/>
            <a:ext cx="32504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36435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81300" y="2477452"/>
            <a:ext cx="9525" cy="1886902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27382" y="2477452"/>
            <a:ext cx="9525" cy="1886902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674418" y="2477452"/>
            <a:ext cx="9525" cy="1886902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71500" y="2477452"/>
            <a:ext cx="11049000" cy="1886902"/>
          </a:xfrm>
          <a:prstGeom prst="roundRect">
            <a:avLst>
              <a:gd name="adj" fmla="val 1514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" y="4571810"/>
            <a:ext cx="1385292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1F5AA8"/>
                </a:solidFill>
                <a:latin typeface="Times New Roman"/>
              </a:rPr>
              <a:t>A row is one goal's history: each → is a new Job that changed one thing. A column is one method across goals.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4878050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Inside one Job: set up, reason, make, check, rank,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9277350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Three set-up Runs pin the goal, the method version and the inputs.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9551194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t00 reasons out 15 ideas, and each idea becomes its own design Task.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0632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806321"/>
            <a:ext cx="1133117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Each design is generated, verified by another agent, and revised until it passes.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186368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2186368"/>
            <a:ext cx="10920412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t99 ranks the 15, keeps 10 with a prediction each, and a person releases them.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" y="404145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272" y="4208716"/>
            <a:ext cx="1412081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Set up ×3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247" y="4603814"/>
            <a:ext cx="181213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goal · method 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826698"/>
            <a:ext cx="84772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inputs</a:t>
            </a:r>
          </a:p>
        </p:txBody>
      </p:sp>
      <p:sp>
        <p:nvSpPr>
          <p:cNvPr id="15" name="Freeform 14"/>
          <p:cNvSpPr/>
          <p:nvPr/>
        </p:nvSpPr>
        <p:spPr>
          <a:xfrm>
            <a:off x="2181225" y="46672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2333625" y="46101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66975" y="404145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1262" y="4208716"/>
            <a:ext cx="1543050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t00 Reason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21769" y="4603814"/>
            <a:ext cx="106203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15 ideas</a:t>
            </a:r>
          </a:p>
        </p:txBody>
      </p:sp>
      <p:sp>
        <p:nvSpPr>
          <p:cNvPr id="20" name="Freeform 19"/>
          <p:cNvSpPr/>
          <p:nvPr/>
        </p:nvSpPr>
        <p:spPr>
          <a:xfrm>
            <a:off x="4076700" y="46672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4229100" y="46101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62450" y="404145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4208716"/>
            <a:ext cx="2066925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t01 – t15 Make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5041" y="4603814"/>
            <a:ext cx="202644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generate →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244" y="4826698"/>
            <a:ext cx="106203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→ revise</a:t>
            </a:r>
          </a:p>
        </p:txBody>
      </p:sp>
      <p:sp>
        <p:nvSpPr>
          <p:cNvPr id="26" name="Freeform 25"/>
          <p:cNvSpPr/>
          <p:nvPr/>
        </p:nvSpPr>
        <p:spPr>
          <a:xfrm>
            <a:off x="5972175" y="46672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6124575" y="46101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57925" y="404145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3181" y="4208716"/>
            <a:ext cx="1281112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t99 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4094" y="4603814"/>
            <a:ext cx="191928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keep 10, 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7031" y="4826698"/>
            <a:ext cx="63341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each</a:t>
            </a:r>
          </a:p>
        </p:txBody>
      </p:sp>
      <p:sp>
        <p:nvSpPr>
          <p:cNvPr id="32" name="Freeform 31"/>
          <p:cNvSpPr/>
          <p:nvPr/>
        </p:nvSpPr>
        <p:spPr>
          <a:xfrm>
            <a:off x="7867650" y="46672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8020050" y="46101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53400" y="404145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64141" y="4208716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Release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86725" y="4603814"/>
            <a:ext cx="170497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 person signs</a:t>
            </a:r>
          </a:p>
        </p:txBody>
      </p:sp>
      <p:sp>
        <p:nvSpPr>
          <p:cNvPr id="37" name="Freeform 36"/>
          <p:cNvSpPr/>
          <p:nvPr/>
        </p:nvSpPr>
        <p:spPr>
          <a:xfrm>
            <a:off x="9763125" y="46672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9915525" y="46101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48875" y="404145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4131" y="4208716"/>
            <a:ext cx="1281112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1466" y="4603814"/>
            <a:ext cx="202644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the designs, word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3669" y="4826698"/>
            <a:ext cx="106203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for word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012745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Four guardrails keep the designs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7771209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None of them relies on the maker checking its own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2562225" cy="2848928"/>
          </a:xfrm>
          <a:prstGeom prst="roundRect">
            <a:avLst>
              <a:gd name="adj" fmla="val 1115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879282"/>
            <a:ext cx="2040731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Inputs fence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324862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Job sees only 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584894"/>
            <a:ext cx="210145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inputs/ folder.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2921127"/>
            <a:ext cx="272653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manifest pins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181159"/>
            <a:ext cx="235148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file by its hash.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51739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3517392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Each reasoning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3777424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cites a file, or says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4037457"/>
            <a:ext cx="197643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own knowledge.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00425" y="1717358"/>
            <a:ext cx="2562225" cy="2848928"/>
          </a:xfrm>
          <a:prstGeom prst="roundRect">
            <a:avLst>
              <a:gd name="adj" fmla="val 1115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0925" y="1879282"/>
            <a:ext cx="3231356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Another agent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0925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0950" y="2324862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Verify and rank run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0950" y="2584894"/>
            <a:ext cx="185142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in a separate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0950" y="2844927"/>
            <a:ext cx="210145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reviewer agent.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0925" y="3181159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0950" y="3181159"/>
            <a:ext cx="272653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failed check sends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0950" y="3441192"/>
            <a:ext cx="2476500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design back 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0950" y="3701224"/>
            <a:ext cx="110132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revise.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29350" y="1717358"/>
            <a:ext cx="2562225" cy="2848928"/>
          </a:xfrm>
          <a:prstGeom prst="roundRect">
            <a:avLst>
              <a:gd name="adj" fmla="val 1115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850" y="1879282"/>
            <a:ext cx="2636044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A person decides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85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9875" y="2324862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person signs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19875" y="2584894"/>
            <a:ext cx="235148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goal once, at the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19875" y="2844927"/>
            <a:ext cx="97631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Block.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850" y="3181159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19875" y="3181159"/>
            <a:ext cx="2851547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A person releases the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19875" y="3441192"/>
            <a:ext cx="222646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designs; nothing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19875" y="3701224"/>
            <a:ext cx="235148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ships on its own.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58275" y="1717358"/>
            <a:ext cx="2562225" cy="2848928"/>
          </a:xfrm>
          <a:prstGeom prst="roundRect">
            <a:avLst>
              <a:gd name="adj" fmla="val 1115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8775" y="1879282"/>
            <a:ext cx="2933700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Predictions frozen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8775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48800" y="2324862"/>
            <a:ext cx="222646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Each kept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48800" y="2584894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carries a predicted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8800" y="2844927"/>
            <a:ext cx="110132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effect.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8775" y="3181159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48800" y="3181159"/>
            <a:ext cx="210145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It is frozen 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48800" y="3441192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release, before the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48800" y="3701224"/>
            <a:ext cx="135135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Exp runs.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2377738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The Exp teaches the method, not only the designs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0920412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The Exp runs outside the theme, and only per-arm totals come back, never rows.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9414272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Each released design's frozen prediction is scored against its arm.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0632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806321"/>
            <a:ext cx="135219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Scores add up to a scorecard per method version, and its weak spots become proposals for the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2091118"/>
            <a:ext cx="1335881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version.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1500" y="356520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2241" y="3732466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716" y="4127563"/>
            <a:ext cx="116919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designs 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559" y="4350448"/>
            <a:ext cx="1383506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predictions</a:t>
            </a:r>
          </a:p>
        </p:txBody>
      </p:sp>
      <p:sp>
        <p:nvSpPr>
          <p:cNvPr id="14" name="Freeform 13"/>
          <p:cNvSpPr/>
          <p:nvPr/>
        </p:nvSpPr>
        <p:spPr>
          <a:xfrm>
            <a:off x="2181225" y="419100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333625" y="4133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66975" y="356520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9653" y="3732466"/>
            <a:ext cx="626269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Exp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9566" y="4127563"/>
            <a:ext cx="202644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outside the theme</a:t>
            </a:r>
          </a:p>
        </p:txBody>
      </p:sp>
      <p:sp>
        <p:nvSpPr>
          <p:cNvPr id="19" name="Freeform 18"/>
          <p:cNvSpPr/>
          <p:nvPr/>
        </p:nvSpPr>
        <p:spPr>
          <a:xfrm>
            <a:off x="4076700" y="419100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4229100" y="4133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362450" y="356520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6738" y="3732466"/>
            <a:ext cx="1543050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Arm totals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88619" y="4127563"/>
            <a:ext cx="191928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in observed/eNN/</a:t>
            </a:r>
          </a:p>
        </p:txBody>
      </p:sp>
      <p:sp>
        <p:nvSpPr>
          <p:cNvPr id="24" name="Freeform 23"/>
          <p:cNvSpPr/>
          <p:nvPr/>
        </p:nvSpPr>
        <p:spPr>
          <a:xfrm>
            <a:off x="5972175" y="419100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6124575" y="4133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7925" y="356520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99634" y="3732466"/>
            <a:ext cx="88820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4828" y="4127563"/>
            <a:ext cx="1597819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run-score-eNN</a:t>
            </a:r>
          </a:p>
        </p:txBody>
      </p:sp>
      <p:sp>
        <p:nvSpPr>
          <p:cNvPr id="29" name="Freeform 28"/>
          <p:cNvSpPr/>
          <p:nvPr/>
        </p:nvSpPr>
        <p:spPr>
          <a:xfrm>
            <a:off x="7867650" y="419100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8020050" y="4133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53400" y="356520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3172" y="3732466"/>
            <a:ext cx="1412081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Scorecard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1038" y="4127563"/>
            <a:ext cx="1276350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per method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1772" y="4350448"/>
            <a:ext cx="95488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version</a:t>
            </a:r>
          </a:p>
        </p:txBody>
      </p:sp>
      <p:sp>
        <p:nvSpPr>
          <p:cNvPr id="35" name="Freeform 34"/>
          <p:cNvSpPr/>
          <p:nvPr/>
        </p:nvSpPr>
        <p:spPr>
          <a:xfrm>
            <a:off x="9763125" y="419100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9915525" y="413385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48875" y="3565208"/>
            <a:ext cx="1571625" cy="1251585"/>
          </a:xfrm>
          <a:prstGeom prst="roundRect">
            <a:avLst>
              <a:gd name="adj" fmla="val 2283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97678" y="3732466"/>
            <a:ext cx="1674019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New version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03669" y="4127563"/>
            <a:ext cx="106203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from the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50091" y="4350448"/>
            <a:ext cx="1169194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proposals</a:t>
            </a:r>
          </a:p>
        </p:txBody>
      </p:sp>
      <p:sp>
        <p:nvSpPr>
          <p:cNvPr id="41" name="Freeform 40"/>
          <p:cNvSpPr/>
          <p:nvPr/>
        </p:nvSpPr>
        <p:spPr>
          <a:xfrm>
            <a:off x="1357312" y="4854892"/>
            <a:ext cx="9477376" cy="400050"/>
          </a:xfrm>
          <a:custGeom>
            <a:avLst/>
            <a:gdLst/>
            <a:ahLst/>
            <a:cxnLst/>
            <a:rect l="l" t="t" r="r" b="b"/>
            <a:pathLst>
              <a:path w="9477376" h="400050">
                <a:moveTo>
                  <a:pt x="9477376" y="0"/>
                </a:moveTo>
                <a:lnTo>
                  <a:pt x="9477376" y="400050"/>
                </a:lnTo>
                <a:lnTo>
                  <a:pt x="0" y="400050"/>
                </a:lnTo>
                <a:lnTo>
                  <a:pt x="0" y="19050"/>
                </a:lnTo>
              </a:path>
            </a:pathLst>
          </a:custGeom>
          <a:noFill/>
          <a:ln w="15240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300162" y="4873942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114300" y="95250"/>
                </a:moveTo>
                <a:lnTo>
                  <a:pt x="57150" y="0"/>
                </a:lnTo>
                <a:lnTo>
                  <a:pt x="0" y="95250"/>
                </a:lnTo>
              </a:path>
            </a:pathLst>
          </a:custGeom>
          <a:noFill/>
          <a:ln w="15240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54066" y="5333238"/>
            <a:ext cx="42838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25" b="0">
                <a:solidFill>
                  <a:srgbClr val="1F5AA8"/>
                </a:solidFill>
                <a:latin typeface="Times New Roman"/>
              </a:rPr>
              <a:t>the next Job runs on the new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062751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Insight steers design through one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1741944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An insight Block's signed Wisdom answer is the only crossing between the two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7223522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It enters the design Block as a new inputs 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806321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0575" y="1806321"/>
            <a:ext cx="12563475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Jobs whose method reads our data use it, and each design element names where it came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" y="3739515"/>
            <a:ext cx="1950720" cy="1474470"/>
          </a:xfrm>
          <a:prstGeom prst="roundRect">
            <a:avLst>
              <a:gd name="adj" fmla="val 1937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8882" y="3907726"/>
            <a:ext cx="193595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Insight 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794" y="4301871"/>
            <a:ext cx="1812131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 signed Wisdom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998" y="4524756"/>
            <a:ext cx="847725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answer</a:t>
            </a:r>
          </a:p>
        </p:txBody>
      </p:sp>
      <p:sp>
        <p:nvSpPr>
          <p:cNvPr id="13" name="Freeform 12"/>
          <p:cNvSpPr/>
          <p:nvPr/>
        </p:nvSpPr>
        <p:spPr>
          <a:xfrm>
            <a:off x="2560320" y="44767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2712720" y="44196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846070" y="3739515"/>
            <a:ext cx="1950720" cy="1474470"/>
          </a:xfrm>
          <a:prstGeom prst="roundRect">
            <a:avLst>
              <a:gd name="adj" fmla="val 1937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358" y="3907726"/>
            <a:ext cx="1150144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Handoff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724" y="4301871"/>
            <a:ext cx="63341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W-NN</a:t>
            </a:r>
          </a:p>
        </p:txBody>
      </p:sp>
      <p:sp>
        <p:nvSpPr>
          <p:cNvPr id="18" name="Freeform 17"/>
          <p:cNvSpPr/>
          <p:nvPr/>
        </p:nvSpPr>
        <p:spPr>
          <a:xfrm>
            <a:off x="4834890" y="44767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987290" y="44196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3739515"/>
            <a:ext cx="1950720" cy="1474470"/>
          </a:xfrm>
          <a:prstGeom prst="roundRect">
            <a:avLst>
              <a:gd name="adj" fmla="val 1937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8022" y="3907726"/>
            <a:ext cx="193595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Design inputs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6356" y="4301871"/>
            <a:ext cx="1919288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 new version iN</a:t>
            </a:r>
          </a:p>
        </p:txBody>
      </p:sp>
      <p:sp>
        <p:nvSpPr>
          <p:cNvPr id="23" name="Freeform 22"/>
          <p:cNvSpPr/>
          <p:nvPr/>
        </p:nvSpPr>
        <p:spPr>
          <a:xfrm>
            <a:off x="7109460" y="44767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7261860" y="44196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95210" y="3739515"/>
            <a:ext cx="1950720" cy="1474470"/>
          </a:xfrm>
          <a:prstGeom prst="roundRect">
            <a:avLst>
              <a:gd name="adj" fmla="val 1937"/>
            </a:avLst>
          </a:prstGeom>
          <a:noFill/>
          <a:ln w="14288">
            <a:solidFill>
              <a:srgbClr val="1F5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6467" y="3907726"/>
            <a:ext cx="888206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A Job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5239" y="4301871"/>
            <a:ext cx="1490662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by insight 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3770" y="4524756"/>
            <a:ext cx="2133600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tailoring · theory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8817" y="4747641"/>
            <a:ext cx="1383506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and insight</a:t>
            </a:r>
          </a:p>
        </p:txBody>
      </p:sp>
      <p:sp>
        <p:nvSpPr>
          <p:cNvPr id="30" name="Freeform 29"/>
          <p:cNvSpPr/>
          <p:nvPr/>
        </p:nvSpPr>
        <p:spPr>
          <a:xfrm>
            <a:off x="9384030" y="4476750"/>
            <a:ext cx="247650" cy="0"/>
          </a:xfrm>
          <a:custGeom>
            <a:avLst/>
            <a:gdLst/>
            <a:ahLst/>
            <a:cxnLst/>
            <a:rect l="l" t="t" r="r" b="b"/>
            <a:pathLst>
              <a:path w="247650" h="0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9536430" y="44196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0" y="114300"/>
                </a:moveTo>
                <a:lnTo>
                  <a:pt x="95250" y="5715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1C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669780" y="3739515"/>
            <a:ext cx="1950720" cy="1474470"/>
          </a:xfrm>
          <a:prstGeom prst="roundRect">
            <a:avLst>
              <a:gd name="adj" fmla="val 1937"/>
            </a:avLst>
          </a:prstGeom>
          <a:noFill/>
          <a:ln w="14288">
            <a:solidFill>
              <a:srgbClr val="8A8A8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42646" y="3907726"/>
            <a:ext cx="1804988" cy="3038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50" b="1">
                <a:solidFill>
                  <a:srgbClr val="1C1C1C"/>
                </a:solidFill>
                <a:latin typeface="Times New Roman"/>
              </a:rPr>
              <a:t>Each element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3387" y="4301871"/>
            <a:ext cx="1383506" cy="24860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0">
                <a:solidFill>
                  <a:srgbClr val="3F3F46"/>
                </a:solidFill>
                <a:latin typeface="Times New Roman"/>
              </a:rPr>
              <a:t>from = W-NN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12627769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One workbench: the same six Spaces at every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2837319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Block, Job and Task each show the same six Spaces, and what a Space holds follows the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26273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575" y="1426273"/>
            <a:ext cx="9688116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At the Task level, the Task's run types decide what each Space shows.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2097405"/>
            <a:ext cx="11049000" cy="438150"/>
          </a:xfrm>
          <a:prstGeom prst="roundRect">
            <a:avLst>
              <a:gd name="adj" fmla="val 6521"/>
            </a:avLst>
          </a:prstGeom>
          <a:solidFill>
            <a:srgbClr val="F2F2F0"/>
          </a:solidFill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850" y="2173605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4650" y="2173605"/>
            <a:ext cx="81438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0732" y="2173605"/>
            <a:ext cx="576262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7768" y="2173605"/>
            <a:ext cx="695325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1C1C"/>
                </a:solidFill>
                <a:latin typeface="Times New Roman"/>
              </a:rPr>
              <a:t>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623376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4650" y="2623376"/>
            <a:ext cx="360521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Map · Goals · Methods ·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60732" y="2623376"/>
            <a:ext cx="326588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its goal, method and 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7768" y="2623376"/>
            <a:ext cx="303966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what it reads and returns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" y="301847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850" y="3106293"/>
            <a:ext cx="190857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Audience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4650" y="3106293"/>
            <a:ext cx="3718322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Questions · Cost · Predicted vs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14650" y="3341560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observed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0732" y="3106293"/>
            <a:ext cx="303966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Ideas · Designs · Ranking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7768" y="3106293"/>
            <a:ext cx="337899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Tests · Drafts ·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373665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850" y="3824478"/>
            <a:ext cx="15692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Work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14650" y="3824478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one card per 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60732" y="3824478"/>
            <a:ext cx="258722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t00 · t01 – t15 · t99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7768" y="3824478"/>
            <a:ext cx="292655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Chains · Elements · Kept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1500" y="4219575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850" y="4307396"/>
            <a:ext cx="664369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Runs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14650" y="4307396"/>
            <a:ext cx="292655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set up · launch ·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60732" y="4307396"/>
            <a:ext cx="3492103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set up · reason · make · rank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7768" y="4307396"/>
            <a:ext cx="156924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its own Runs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" y="4702492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850" y="4790313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14650" y="4790313"/>
            <a:ext cx="2587228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every released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0732" y="4790313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the kept designs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07768" y="4790313"/>
            <a:ext cx="2021681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what it hands 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5185410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850" y="5273230"/>
            <a:ext cx="1456134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1">
                <a:solidFill>
                  <a:srgbClr val="1C1C1C"/>
                </a:solidFill>
                <a:latin typeface="Times New Roman"/>
              </a:rPr>
              <a:t>Idea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14650" y="5273230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drawings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60732" y="5273230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drawings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07768" y="5273230"/>
            <a:ext cx="1116806" cy="2624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25" b="0">
                <a:solidFill>
                  <a:srgbClr val="3F3F46"/>
                </a:solidFill>
                <a:latin typeface="Times New Roman"/>
              </a:rPr>
              <a:t>drawings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5668328"/>
            <a:ext cx="11049000" cy="9525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81300" y="2097405"/>
            <a:ext cx="9525" cy="3570923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27382" y="2097405"/>
            <a:ext cx="9525" cy="3570923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74418" y="2097405"/>
            <a:ext cx="9525" cy="3570923"/>
          </a:xfrm>
          <a:prstGeom prst="rect">
            <a:avLst/>
          </a:prstGeom>
          <a:solidFill>
            <a:srgbClr val="D4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71500" y="2097405"/>
            <a:ext cx="11049000" cy="3570922"/>
          </a:xfrm>
          <a:prstGeom prst="roundRect">
            <a:avLst>
              <a:gd name="adj" fmla="val 800"/>
            </a:avLst>
          </a:prstGeom>
          <a:noFill/>
          <a:ln w="9525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38709"/>
            <a:ext cx="4126706" cy="580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>
                <a:solidFill>
                  <a:srgbClr val="1C1C1C"/>
                </a:solidFill>
                <a:latin typeface="Times New Roman"/>
              </a:rPr>
              <a:t>Where it stands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046226"/>
            <a:ext cx="377428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575" y="1046226"/>
            <a:ext cx="11878866" cy="3176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25" b="0">
                <a:solidFill>
                  <a:srgbClr val="3F3F46"/>
                </a:solidFill>
                <a:latin typeface="Times New Roman"/>
              </a:rPr>
              <a:t>Next: the workbench serves all three levels, then the older design Boards carry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717358"/>
            <a:ext cx="3505200" cy="2588895"/>
          </a:xfrm>
          <a:prstGeom prst="roundRect">
            <a:avLst>
              <a:gd name="adj" fmla="val 1103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879282"/>
            <a:ext cx="850106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324862"/>
            <a:ext cx="372665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skills carry the ladder: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584894"/>
            <a:ext cx="3851672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contract, inputs and methods,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2844927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worker, Runs and release.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181159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181159"/>
            <a:ext cx="4101703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95 tests pass, and one Job runs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441192"/>
            <a:ext cx="1601391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end to 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17358"/>
            <a:ext cx="3505200" cy="2588895"/>
          </a:xfrm>
          <a:prstGeom prst="roundRect">
            <a:avLst>
              <a:gd name="adj" fmla="val 1103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3900" y="1879282"/>
            <a:ext cx="1891903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39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3925" y="2324862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workbench screens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3925" y="2584894"/>
            <a:ext cx="397668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Block, Job and Task on the new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3925" y="2844927"/>
            <a:ext cx="1101328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ladder.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5300" y="1717358"/>
            <a:ext cx="3505200" cy="2588895"/>
          </a:xfrm>
          <a:prstGeom prst="roundRect">
            <a:avLst>
              <a:gd name="adj" fmla="val 1103"/>
            </a:avLst>
          </a:prstGeom>
          <a:noFill/>
          <a:ln w="14288">
            <a:solidFill>
              <a:srgbClr val="D4D4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5800" y="1879282"/>
            <a:ext cx="850106" cy="3452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75" b="1">
                <a:solidFill>
                  <a:srgbClr val="1C1C1C"/>
                </a:solidFill>
                <a:latin typeface="Times New Roman"/>
              </a:rPr>
              <a:t>Open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5800" y="232486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5825" y="2324862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Token usage in each Run's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5825" y="2584894"/>
            <a:ext cx="122634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receipt.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5800" y="2921127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5825" y="2921127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The Exp names the Job 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5825" y="3181159"/>
            <a:ext cx="260151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design on each arm.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5800" y="3517392"/>
            <a:ext cx="351234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1">
                <a:solidFill>
                  <a:srgbClr val="3F3F46"/>
                </a:solidFill>
                <a:latin typeface="Times New Roman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5825" y="3517392"/>
            <a:ext cx="3351609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Carrying the older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5825" y="3777424"/>
            <a:ext cx="1726406" cy="2900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75" b="0">
                <a:solidFill>
                  <a:srgbClr val="3F3F46"/>
                </a:solidFill>
                <a:latin typeface="Times New Roman"/>
              </a:rPr>
              <a:t>Boards over.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